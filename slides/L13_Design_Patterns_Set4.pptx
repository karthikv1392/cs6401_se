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314" r:id="rId3"/>
    <p:sldId id="506" r:id="rId4"/>
    <p:sldId id="582" r:id="rId5"/>
    <p:sldId id="583" r:id="rId6"/>
    <p:sldId id="584" r:id="rId7"/>
    <p:sldId id="585" r:id="rId8"/>
    <p:sldId id="586" r:id="rId9"/>
    <p:sldId id="587" r:id="rId10"/>
    <p:sldId id="588" r:id="rId11"/>
    <p:sldId id="589" r:id="rId12"/>
    <p:sldId id="590" r:id="rId13"/>
    <p:sldId id="591" r:id="rId14"/>
    <p:sldId id="592" r:id="rId15"/>
    <p:sldId id="609" r:id="rId16"/>
    <p:sldId id="593" r:id="rId17"/>
    <p:sldId id="594" r:id="rId18"/>
    <p:sldId id="595" r:id="rId19"/>
    <p:sldId id="596" r:id="rId20"/>
    <p:sldId id="597" r:id="rId21"/>
    <p:sldId id="598" r:id="rId22"/>
    <p:sldId id="610" r:id="rId23"/>
    <p:sldId id="601" r:id="rId24"/>
    <p:sldId id="600" r:id="rId25"/>
    <p:sldId id="603" r:id="rId26"/>
    <p:sldId id="604" r:id="rId27"/>
    <p:sldId id="605" r:id="rId28"/>
    <p:sldId id="606" r:id="rId29"/>
    <p:sldId id="607" r:id="rId30"/>
    <p:sldId id="608" r:id="rId31"/>
    <p:sldId id="599" r:id="rId32"/>
    <p:sldId id="391" r:id="rId33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30A17E-A4DF-0C46-B7CE-B97368381E08}" v="15" dt="2023-02-20T05:16:56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62"/>
    <p:restoredTop sz="92181"/>
  </p:normalViewPr>
  <p:slideViewPr>
    <p:cSldViewPr snapToGrid="0">
      <p:cViewPr varScale="1">
        <p:scale>
          <a:sx n="117" d="100"/>
          <a:sy n="117" d="100"/>
        </p:scale>
        <p:origin x="7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301DD-FA6E-5649-B8B9-9CB7FEDFF6D2}" type="datetimeFigureOut">
              <a:rPr lang="en-IT" smtClean="0"/>
              <a:t>3/5/24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F56AC-3B4F-CF44-9EF2-45C26978FC4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73848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89265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22640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12694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32605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11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44086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12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41311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7340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18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46076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19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8816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12394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21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809598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22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24326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26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25327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27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98011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28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73039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29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322114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30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862861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31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286321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F56AC-3B4F-CF44-9EF2-45C26978FC43}" type="slidenum">
              <a:rPr lang="en-IT" smtClean="0"/>
              <a:t>32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85761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55C1-23E7-485A-0A4E-1F184D65D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593C4-DCD5-93A8-535F-857AA1FA7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7FD17-3B0A-FBF0-E8B1-EB75B1EA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3EDF-04B3-9F44-91D4-A7AFF2C7763D}" type="datetime1">
              <a:rPr lang="en-IN" smtClean="0"/>
              <a:t>05/03/24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24D36-2E35-7FA0-A8D3-C43E94D15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6CF26-E9C8-9F3E-7362-E0F081EF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0875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09FF-A421-3E5C-33DC-01C995BB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D497-F559-92AA-8E92-63294ED43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721-D2F5-D2C2-F822-976D6784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EF15-1EDE-8347-9E79-C0DD150D6DA4}" type="datetime1">
              <a:rPr lang="en-IN" smtClean="0"/>
              <a:t>05/03/24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15D61-F0A8-9AB4-E0DB-C390059AA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7D843-AC36-35D0-29A0-01DB665B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D9C31BB6-3526-7DED-922E-5EAFF75C3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10965434" y="6102703"/>
            <a:ext cx="1233932" cy="780344"/>
          </a:xfrm>
          <a:prstGeom prst="rect">
            <a:avLst/>
          </a:prstGeom>
        </p:spPr>
      </p:pic>
      <p:pic>
        <p:nvPicPr>
          <p:cNvPr id="10" name="Picture 9" descr="Text&#10;&#10;Description automatically generated with medium confidence">
            <a:extLst>
              <a:ext uri="{FF2B5EF4-FFF2-40B4-BE49-F238E27FC236}">
                <a16:creationId xmlns:a16="http://schemas.microsoft.com/office/drawing/2014/main" id="{BC86CD45-739F-81CB-8A00-2673FEED76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0" y="5786814"/>
            <a:ext cx="2037334" cy="10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5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10B2-6A51-22B1-EF61-696217B4D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89414-B02C-1E13-214F-47C0381C8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FA08F-E4FD-A8F4-8706-D33AE9EBE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7F6E-FBE2-1249-8677-94E90D147166}" type="datetime1">
              <a:rPr lang="en-IN" smtClean="0"/>
              <a:t>05/03/24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4F7AA-A974-5770-828D-A041C08B2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47D76-9EC9-DFFE-1027-BAC27594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2237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40248-32B8-BDFD-F4DB-A8484AF22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5B8BF-A6B0-B724-2861-1AC5DC5B6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C24D5-18C1-D160-CC09-0396ACD0B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D94B7-8744-9D4F-AC52-6F5766C3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DC62F-619A-3647-85E5-B619FDB4DC78}" type="datetime1">
              <a:rPr lang="en-IN" smtClean="0"/>
              <a:t>05/03/24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F924D-1EA0-BA13-3C3A-0C10F4179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79D94-BD04-B9D5-44A6-AAD31E1E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099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5835-88AD-EF9C-382A-12263474E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096AE-2CCF-7A99-CC57-4E9035BC1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EA441-D4C0-F55C-616E-5B8D3EA02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86B55-81BF-DB63-9AC3-CCEF55185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31FD7-83B3-ED5B-D050-221532ACB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E19B5C-0DE3-ABE0-4A2E-D1360EF2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2BC0-8E43-0B44-BA0D-799220A66D90}" type="datetime1">
              <a:rPr lang="en-IN" smtClean="0"/>
              <a:t>05/03/24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AE3FC7-30DC-49F3-5920-0385EDE2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C8D322-A577-BDB4-6E97-F9EE998C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431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B853-3325-414B-1A07-2AF69E3D1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8C3C8-5E5C-05F4-78C0-6DA4991D0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B2A3-A266-434A-B03F-B0036A55EDD1}" type="datetime1">
              <a:rPr lang="en-IN" smtClean="0"/>
              <a:t>05/03/24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3F26E-508A-0910-B783-AC8D49134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95A38-F37D-7574-9511-65B3E1C42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576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7F71F-05B5-420F-80C3-42B0CEFB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95C9C-94FA-114A-9239-709938920301}" type="datetime1">
              <a:rPr lang="en-IN" smtClean="0"/>
              <a:t>05/03/24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517E4-3CDF-B3D6-AC17-349432139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9E05F-D2F3-B958-4553-75050214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0765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B193E-F21E-88C6-6ACC-EBBF0D7A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FB6B3-7160-D7B9-9526-750D1EA90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3B1A7-BA6E-09B2-A42D-0D7629368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FA43A-AFD4-299D-9AC0-41BE28AA7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1959-0228-814C-B8C3-FC4265B84AFD}" type="datetime1">
              <a:rPr lang="en-IN" smtClean="0"/>
              <a:t>05/03/24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C43B2-F0A1-3943-F7DB-CFF11E9E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8BC62-06B3-A9DE-A5B3-AD546E36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2720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B05AE-6695-E682-4FD3-08739A91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41064F-AAF1-33CB-DE20-9F7DB0701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6EA19-EB8B-2713-FCCA-DDAF159B3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A9F10-84E3-2AEB-8AD8-8357F31A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CAAC3-17FF-F64E-A8EB-9F205DBE77D4}" type="datetime1">
              <a:rPr lang="en-IN" smtClean="0"/>
              <a:t>05/03/24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36797-7B95-8998-86D3-794F5785A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DDEBD-0878-CC9C-C3B7-C0C7D915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9446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813EF-B295-1FF6-5949-83DAFCC9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667B9-6DEC-BC83-05CF-36D3BD499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4B43A-6DDB-21CA-1895-63717270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5318-D6E1-A74E-B0E1-E44ABBBEB34B}" type="datetime1">
              <a:rPr lang="en-IN" smtClean="0"/>
              <a:t>05/03/24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F4489-E3A0-E17B-98A5-17CF504D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3F4F9-F48F-8BC6-2935-3C14EA625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1563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5816D7-2A7C-1539-52B2-113ECE51B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EB618-DDA3-9D28-0CB6-600E703D6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467A3-9F9F-2608-D2BF-BB78A55D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F422-61CC-5043-9A27-BD69B14FC094}" type="datetime1">
              <a:rPr lang="en-IN" smtClean="0"/>
              <a:t>05/03/24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5C1FA-164B-FA92-21D7-A47E9970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6F1E4-CA3D-FE98-BF0E-B9C9900A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597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DC9D4-5F6B-12D3-3333-DB8A17403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30409-24B6-494E-2BF9-9EFFC11F5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E78B3-D8F4-D31B-8B5C-A8A076543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95614-A1E1-A443-97BB-515B0C8D6B84}" type="datetime1">
              <a:rPr lang="en-IN" smtClean="0"/>
              <a:t>05/03/24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1D910-2B8F-8A39-8B7B-AEBB0196A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21156-1C85-6C97-B683-0BE229381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E8288-AF62-1F4A-81E8-5FDB4B6764BA}" type="slidenum">
              <a:rPr lang="en-IT" smtClean="0"/>
              <a:t>‹#›</a:t>
            </a:fld>
            <a:endParaRPr lang="en-IT"/>
          </a:p>
        </p:txBody>
      </p:sp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D1BA12D7-1ADD-947A-5A2F-95F8BEF1A89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14000"/>
          </a:blip>
          <a:stretch>
            <a:fillRect/>
          </a:stretch>
        </p:blipFill>
        <p:spPr>
          <a:xfrm>
            <a:off x="0" y="5786814"/>
            <a:ext cx="2037334" cy="1050172"/>
          </a:xfrm>
          <a:prstGeom prst="rect">
            <a:avLst/>
          </a:prstGeom>
        </p:spPr>
      </p:pic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F582B9AF-18F7-1262-D9E7-471E80321E1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14000"/>
          </a:blip>
          <a:stretch>
            <a:fillRect/>
          </a:stretch>
        </p:blipFill>
        <p:spPr>
          <a:xfrm>
            <a:off x="10965434" y="6102703"/>
            <a:ext cx="1233932" cy="78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59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arthikvaidhyanathan.com/" TargetMode="External"/><Relationship Id="rId2" Type="http://schemas.openxmlformats.org/officeDocument/2006/relationships/hyperlink" Target="karthik.vaidhyanathan@iiit.ac.in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manual-documentation-docs-mandatory-154693/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manual-documentation-docs-mandatory-154693/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://wagingnonviolence.org/feature/activists-need-realize-americans-actually-agree/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manual-documentation-docs-mandatory-154693/" TargetMode="Externa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://wagingnonviolence.org/feature/activists-need-realize-americans-actually-agree/" TargetMode="Externa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hierarchy-levels-arrangements-35795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manual-documentation-docs-mandatory-154693/" TargetMode="Externa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manual-documentation-docs-mandatory-154693/" TargetMode="Externa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://wagingnonviolence.org/feature/activists-need-realize-americans-actually-agree/" TargetMode="Externa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karthikv1392.github.io/cs6401_s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hyperlink" Target="https://karthikvaidhyanathan.com/" TargetMode="External"/><Relationship Id="rId4" Type="http://schemas.openxmlformats.org/officeDocument/2006/relationships/hyperlink" Target="mailto:karthik.vaidhyanathan@iiit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CA4ED-E44A-BD8D-624B-F2573A8F4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372" y="678279"/>
            <a:ext cx="6734318" cy="3072015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Design Patterns</a:t>
            </a:r>
            <a:endParaRPr lang="en-IT" dirty="0">
              <a:latin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90474-B17C-FD2C-C463-01F231A9B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628" y="3748997"/>
            <a:ext cx="5221185" cy="2102108"/>
          </a:xfrm>
        </p:spPr>
        <p:txBody>
          <a:bodyPr anchor="t">
            <a:normAutofit/>
          </a:bodyPr>
          <a:lstStyle/>
          <a:p>
            <a:r>
              <a:rPr lang="en-IT" sz="2200" b="1">
                <a:latin typeface="Cambria" panose="02040503050406030204" pitchFamily="18" charset="0"/>
              </a:rPr>
              <a:t>CS6.</a:t>
            </a:r>
            <a:r>
              <a:rPr lang="en-US" sz="2200" b="1" dirty="0">
                <a:latin typeface="Cambria" panose="02040503050406030204" pitchFamily="18" charset="0"/>
              </a:rPr>
              <a:t>4</a:t>
            </a:r>
            <a:r>
              <a:rPr lang="en-IT" sz="2200" b="1">
                <a:latin typeface="Cambria" panose="02040503050406030204" pitchFamily="18" charset="0"/>
              </a:rPr>
              <a:t>01 Software </a:t>
            </a:r>
            <a:r>
              <a:rPr lang="en-IT" sz="2200" b="1" dirty="0">
                <a:latin typeface="Cambria" panose="02040503050406030204" pitchFamily="18" charset="0"/>
              </a:rPr>
              <a:t>Engineering</a:t>
            </a:r>
          </a:p>
          <a:p>
            <a:endParaRPr lang="en-IT" sz="2200" dirty="0">
              <a:latin typeface="Cambria" panose="02040503050406030204" pitchFamily="18" charset="0"/>
            </a:endParaRPr>
          </a:p>
          <a:p>
            <a:r>
              <a:rPr lang="en-IT" sz="2200">
                <a:latin typeface="Cambria" panose="02040503050406030204" pitchFamily="18" charset="0"/>
              </a:rPr>
              <a:t>Dr</a:t>
            </a:r>
            <a:r>
              <a:rPr lang="en-IT" sz="2200" dirty="0">
                <a:latin typeface="Cambria" panose="02040503050406030204" pitchFamily="18" charset="0"/>
              </a:rPr>
              <a:t>. </a:t>
            </a:r>
            <a:r>
              <a:rPr lang="en-IT" sz="2200">
                <a:latin typeface="Cambria" panose="02040503050406030204" pitchFamily="18" charset="0"/>
              </a:rPr>
              <a:t>Karthik Vaidhyanthan</a:t>
            </a:r>
            <a:endParaRPr lang="en-US" sz="2200" dirty="0">
              <a:latin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hlinkClick r:id="rId2"/>
              </a:rPr>
              <a:t>karthik.vaidhyanathan@iiit.ac.in</a:t>
            </a:r>
            <a:endParaRPr lang="en-US" sz="1800" dirty="0">
              <a:latin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hlinkClick r:id="rId3"/>
              </a:rPr>
              <a:t>https://</a:t>
            </a:r>
            <a:r>
              <a:rPr lang="en-US" sz="1800" dirty="0" err="1">
                <a:latin typeface="Cambria" panose="02040503050406030204" pitchFamily="18" charset="0"/>
                <a:hlinkClick r:id="rId3"/>
              </a:rPr>
              <a:t>karthikvaidhyanathan.com</a:t>
            </a:r>
            <a:endParaRPr lang="en-US" sz="1800" dirty="0">
              <a:latin typeface="Cambria" panose="02040503050406030204" pitchFamily="18" charset="0"/>
            </a:endParaRPr>
          </a:p>
          <a:p>
            <a:endParaRPr lang="en-IT" sz="2200" dirty="0">
              <a:latin typeface="Cambria" panose="02040503050406030204" pitchFamily="18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E84E1552-D05F-5FFC-1A56-F8C960EF0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440" y="2055903"/>
            <a:ext cx="4341808" cy="27461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: Shape 34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36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E957A8F7-9198-7C0F-0E9D-18968D80E7E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9000"/>
          </a:blip>
          <a:stretch>
            <a:fillRect/>
          </a:stretch>
        </p:blipFill>
        <p:spPr>
          <a:xfrm>
            <a:off x="0" y="5556726"/>
            <a:ext cx="2360601" cy="121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2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862" y="672063"/>
            <a:ext cx="7809489" cy="426167"/>
          </a:xfrm>
        </p:spPr>
        <p:txBody>
          <a:bodyPr>
            <a:noAutofit/>
          </a:bodyPr>
          <a:lstStyle/>
          <a:p>
            <a:r>
              <a:rPr lang="en-IT" sz="36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Acknowledgements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377E5-0B05-37ED-3355-0D9A23C6867D}"/>
              </a:ext>
            </a:extLst>
          </p:cNvPr>
          <p:cNvSpPr txBox="1"/>
          <p:nvPr/>
        </p:nvSpPr>
        <p:spPr>
          <a:xfrm>
            <a:off x="774728" y="1824635"/>
            <a:ext cx="112213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>
                <a:latin typeface="Cambria" panose="02040503050406030204" pitchFamily="18" charset="0"/>
              </a:rPr>
              <a:t>The materials used in this presentation have been gathered/adapted/generated from various sources as well as based on my own experiences and knowledge</a:t>
            </a:r>
          </a:p>
          <a:p>
            <a:pPr algn="just"/>
            <a:r>
              <a:rPr lang="en-GB" sz="2400" dirty="0">
                <a:latin typeface="Cambria" panose="02040503050406030204" pitchFamily="18" charset="0"/>
              </a:rPr>
              <a:t>								 -- Karthik Vaidhyanathan</a:t>
            </a:r>
          </a:p>
          <a:p>
            <a:endParaRPr lang="en-GB" sz="2400" dirty="0">
              <a:latin typeface="Cambria" panose="02040503050406030204" pitchFamily="18" charset="0"/>
            </a:endParaRPr>
          </a:p>
          <a:p>
            <a:r>
              <a:rPr lang="en-GB" sz="2400" dirty="0">
                <a:latin typeface="Cambria" panose="02040503050406030204" pitchFamily="18" charset="0"/>
              </a:rPr>
              <a:t>Sources:</a:t>
            </a:r>
          </a:p>
          <a:p>
            <a:endParaRPr lang="en-GB" sz="2400" dirty="0">
              <a:latin typeface="Cambria" panose="02040503050406030204" pitchFamily="18" charset="0"/>
            </a:endParaRPr>
          </a:p>
          <a:p>
            <a:pPr marL="457200" indent="-457200">
              <a:buFontTx/>
              <a:buAutoNum type="arabicPeriod"/>
            </a:pPr>
            <a:r>
              <a:rPr lang="en-IN" sz="2400" b="1" i="0" dirty="0">
                <a:solidFill>
                  <a:srgbClr val="0F1111"/>
                </a:solidFill>
                <a:effectLst/>
                <a:latin typeface="Cambria" panose="02040503050406030204" pitchFamily="18" charset="0"/>
              </a:rPr>
              <a:t>Design Patterns: Elements of Reusable Object-Oriented Software </a:t>
            </a:r>
            <a:r>
              <a:rPr lang="en-IN" sz="2400" i="0" dirty="0">
                <a:solidFill>
                  <a:srgbClr val="0F1111"/>
                </a:solidFill>
                <a:effectLst/>
                <a:latin typeface="Cambria" panose="02040503050406030204" pitchFamily="18" charset="0"/>
              </a:rPr>
              <a:t>by Erich Gamma, Richard Helm, Ralph Johnson and John </a:t>
            </a:r>
            <a:r>
              <a:rPr lang="en-IN" sz="2400" i="0" dirty="0" err="1">
                <a:solidFill>
                  <a:srgbClr val="0F1111"/>
                </a:solidFill>
                <a:effectLst/>
                <a:latin typeface="Cambria" panose="02040503050406030204" pitchFamily="18" charset="0"/>
              </a:rPr>
              <a:t>Vlissides</a:t>
            </a:r>
            <a:endParaRPr lang="en-IN" sz="2400" i="0" dirty="0">
              <a:solidFill>
                <a:srgbClr val="0F1111"/>
              </a:solidFill>
              <a:effectLst/>
              <a:latin typeface="Cambria" panose="02040503050406030204" pitchFamily="18" charset="0"/>
            </a:endParaRPr>
          </a:p>
          <a:p>
            <a:pPr marL="457200" indent="-457200">
              <a:buFontTx/>
              <a:buAutoNum type="arabicPeriod"/>
            </a:pPr>
            <a:r>
              <a:rPr lang="en-IN" sz="2400" b="1" dirty="0">
                <a:solidFill>
                  <a:srgbClr val="0F1111"/>
                </a:solidFill>
                <a:latin typeface="Cambria" panose="02040503050406030204" pitchFamily="18" charset="0"/>
              </a:rPr>
              <a:t>Head first Design Patterns</a:t>
            </a:r>
            <a:r>
              <a:rPr lang="en-IN" sz="2400" dirty="0">
                <a:solidFill>
                  <a:srgbClr val="0F1111"/>
                </a:solidFill>
                <a:latin typeface="Cambria" panose="02040503050406030204" pitchFamily="18" charset="0"/>
              </a:rPr>
              <a:t>, Second Edition, Eric Freeman and Elisabeth Robson </a:t>
            </a:r>
            <a:endParaRPr lang="en-IN" sz="2400" i="0" dirty="0">
              <a:solidFill>
                <a:srgbClr val="0F1111"/>
              </a:solidFill>
              <a:effectLst/>
              <a:latin typeface="Cambria" panose="02040503050406030204" pitchFamily="18" charset="0"/>
            </a:endParaRPr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9E5FF8F0-FB97-2050-6369-292D14AA07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73DF2B-B7EC-B030-3EA7-6A7CCC33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1751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15926-F9AE-3C3F-35E2-3A4A07C1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33" y="2268773"/>
            <a:ext cx="5782716" cy="215071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rgbClr val="080808"/>
                </a:solidFill>
                <a:latin typeface="Cambria" panose="02040503050406030204" pitchFamily="18" charset="0"/>
              </a:rPr>
              <a:t>You can give a command: Command Pattern</a:t>
            </a:r>
            <a:br>
              <a:rPr lang="en-US" sz="3600" dirty="0">
                <a:solidFill>
                  <a:srgbClr val="080808"/>
                </a:solidFill>
                <a:latin typeface="Cambria" panose="02040503050406030204" pitchFamily="18" charset="0"/>
              </a:rPr>
            </a:br>
            <a:r>
              <a:rPr lang="en-US" sz="3600" dirty="0">
                <a:solidFill>
                  <a:srgbClr val="080808"/>
                </a:solidFill>
                <a:latin typeface="Cambria" panose="02040503050406030204" pitchFamily="18" charset="0"/>
              </a:rPr>
              <a:t>[Behavioral]</a:t>
            </a:r>
            <a:endParaRPr lang="en-US" sz="3600" kern="1200" dirty="0">
              <a:solidFill>
                <a:srgbClr val="080808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ED79F-805E-82A9-FD19-B8AB3D5C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9294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278651"/>
            <a:ext cx="8702977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Meet the Command Pattern!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4</a:t>
            </a:fld>
            <a:endParaRPr lang="en-IT"/>
          </a:p>
        </p:txBody>
      </p:sp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C8E89E09-DA08-E08B-3E6B-5F0F26736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61" y="768259"/>
            <a:ext cx="11147748" cy="608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99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278651"/>
            <a:ext cx="8702977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Meet the Command Pattern – A Scenario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5</a:t>
            </a:fld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9AAABC-8BE0-4062-A253-CCA9F6666E4F}"/>
              </a:ext>
            </a:extLst>
          </p:cNvPr>
          <p:cNvSpPr txBox="1"/>
          <p:nvPr/>
        </p:nvSpPr>
        <p:spPr>
          <a:xfrm>
            <a:off x="1271575" y="5971497"/>
            <a:ext cx="9262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" panose="02040503050406030204" pitchFamily="18" charset="0"/>
              </a:rPr>
              <a:t>Should remote know exactly how the TV work step by step?</a:t>
            </a:r>
          </a:p>
        </p:txBody>
      </p:sp>
      <p:pic>
        <p:nvPicPr>
          <p:cNvPr id="6" name="Picture 5" descr="Graphical user interface, diagram&#10;&#10;Description automatically generated with medium confidence">
            <a:extLst>
              <a:ext uri="{FF2B5EF4-FFF2-40B4-BE49-F238E27FC236}">
                <a16:creationId xmlns:a16="http://schemas.microsoft.com/office/drawing/2014/main" id="{BBA84942-6758-A904-0590-54D247804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93" y="1975674"/>
            <a:ext cx="10986565" cy="301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326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77" y="482105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Meet the Command Pattern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6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670705" y="1954811"/>
            <a:ext cx="114233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What if sender need not have to worry about receiver’s internal implementation?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What if some commands needs to be scheduled and executed in order at a later time?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Sender needs to be decoupled from a receiver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Encapsulates everything required to perform an 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Execution of action can happen independently</a:t>
            </a:r>
          </a:p>
        </p:txBody>
      </p:sp>
    </p:spTree>
    <p:extLst>
      <p:ext uri="{BB962C8B-B14F-4D97-AF65-F5344CB8AC3E}">
        <p14:creationId xmlns:p14="http://schemas.microsoft.com/office/powerpoint/2010/main" val="225010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500043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Command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7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90798" y="1142792"/>
            <a:ext cx="109012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Intent</a:t>
            </a: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</a:rPr>
              <a:t>Encapsulate a request as an object, allowing parameterization of clients with requests, log or queue request and support undoable operations.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Also Known As: </a:t>
            </a:r>
            <a:r>
              <a:rPr lang="en-US" sz="2400" dirty="0">
                <a:latin typeface="Cambria" panose="02040503050406030204" pitchFamily="18" charset="0"/>
              </a:rPr>
              <a:t>Action, Transaction 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Motivation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Sometimes its necessary to request to objects without </a:t>
            </a:r>
          </a:p>
          <a:p>
            <a:r>
              <a:rPr lang="en-US" sz="2400" dirty="0">
                <a:latin typeface="Cambria" panose="02040503050406030204" pitchFamily="18" charset="0"/>
              </a:rPr>
              <a:t>details about operation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Objects can be stored and passed around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Five key objects: </a:t>
            </a:r>
            <a:r>
              <a:rPr lang="en-US" sz="2400" i="1" dirty="0">
                <a:latin typeface="Cambria" panose="02040503050406030204" pitchFamily="18" charset="0"/>
              </a:rPr>
              <a:t>Client, Command, Concrete Command, Invoker and Receiver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</a:rPr>
              <a:t>Example: UI kits [Think about if you want to develop a button class]</a:t>
            </a: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9FB755E0-0696-7CCF-C17E-E97F2F893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165629" y="3458534"/>
            <a:ext cx="2017581" cy="20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15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500043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Command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8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79389" y="1331976"/>
            <a:ext cx="109012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Applicability</a:t>
            </a: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Parameterize objects by an action to perform – Callbacks in procedural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Specify, queue, execute request at different times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Support undo operations – Think of editors, games [Add another operation in command interface]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Support logging changes – Manage crashes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Sometimes an operation may be composed of primitive operations</a:t>
            </a: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672EA712-8DAC-45CB-234A-98D32F5E3D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403789" y="4507134"/>
            <a:ext cx="1328848" cy="132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05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102" y="515367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Command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9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487523" y="1310970"/>
            <a:ext cx="10901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95986-1573-E1CC-BBCB-8F032CD055C8}"/>
              </a:ext>
            </a:extLst>
          </p:cNvPr>
          <p:cNvSpPr txBox="1"/>
          <p:nvPr/>
        </p:nvSpPr>
        <p:spPr>
          <a:xfrm>
            <a:off x="-9508" y="6553873"/>
            <a:ext cx="2298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</a:rPr>
              <a:t>Image source: Gang of four book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E877D55-F060-28DD-B534-A31268A87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0" y="2180081"/>
            <a:ext cx="11044126" cy="372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28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90" y="279116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Command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10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24790" y="742683"/>
            <a:ext cx="10901208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</a:rPr>
              <a:t>Participants</a:t>
            </a:r>
          </a:p>
          <a:p>
            <a:r>
              <a:rPr lang="en-US" sz="2400" b="1" dirty="0">
                <a:latin typeface="Cambria" panose="02040503050406030204" pitchFamily="18" charset="0"/>
              </a:rPr>
              <a:t>Command (</a:t>
            </a:r>
            <a:r>
              <a:rPr lang="en-US" sz="2400" b="1" dirty="0" err="1">
                <a:latin typeface="Cambria" panose="02040503050406030204" pitchFamily="18" charset="0"/>
              </a:rPr>
              <a:t>Command.java</a:t>
            </a:r>
            <a:r>
              <a:rPr lang="en-US" sz="2400" b="1" dirty="0">
                <a:latin typeface="Cambria" panose="020405030504060302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Interface for executing an operation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Cambria" panose="02040503050406030204" pitchFamily="18" charset="0"/>
            </a:endParaRPr>
          </a:p>
          <a:p>
            <a:r>
              <a:rPr lang="en-US" sz="2400" b="1" dirty="0" err="1">
                <a:latin typeface="Cambria" panose="02040503050406030204" pitchFamily="18" charset="0"/>
              </a:rPr>
              <a:t>ConcreteCommand</a:t>
            </a:r>
            <a:r>
              <a:rPr lang="en-US" sz="2400" b="1" dirty="0">
                <a:latin typeface="Cambria" panose="02040503050406030204" pitchFamily="18" charset="0"/>
              </a:rPr>
              <a:t> (</a:t>
            </a:r>
            <a:r>
              <a:rPr lang="en-US" sz="2400" b="1" dirty="0" err="1">
                <a:latin typeface="Cambria" panose="02040503050406030204" pitchFamily="18" charset="0"/>
              </a:rPr>
              <a:t>TVOnCommand</a:t>
            </a:r>
            <a:r>
              <a:rPr lang="en-US" sz="2400" b="1" dirty="0">
                <a:latin typeface="Cambria" panose="02040503050406030204" pitchFamily="18" charset="0"/>
              </a:rPr>
              <a:t>, </a:t>
            </a:r>
            <a:r>
              <a:rPr lang="en-US" sz="2400" b="1" dirty="0" err="1">
                <a:latin typeface="Cambria" panose="02040503050406030204" pitchFamily="18" charset="0"/>
              </a:rPr>
              <a:t>TVOffCommand</a:t>
            </a:r>
            <a:r>
              <a:rPr lang="en-US" sz="2400" b="1" dirty="0">
                <a:latin typeface="Cambria" panose="02040503050406030204" pitchFamily="18" charset="0"/>
              </a:rPr>
              <a:t>,..)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Binding between receiver object and 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Implements the execute by invoking operations on receiver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Receiver (Television)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Knows how to perform the operations associated with a request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Client (</a:t>
            </a:r>
            <a:r>
              <a:rPr lang="en-US" sz="2400" b="1" dirty="0" err="1">
                <a:latin typeface="Cambria" panose="02040503050406030204" pitchFamily="18" charset="0"/>
              </a:rPr>
              <a:t>RemoteControlDemo</a:t>
            </a:r>
            <a:r>
              <a:rPr lang="en-US" sz="2400" b="1" dirty="0">
                <a:latin typeface="Cambria" panose="020405030504060302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Create </a:t>
            </a:r>
            <a:r>
              <a:rPr lang="en-US" sz="2400" dirty="0" err="1">
                <a:latin typeface="Cambria" panose="02040503050406030204" pitchFamily="18" charset="0"/>
              </a:rPr>
              <a:t>ConcreteCommand</a:t>
            </a:r>
            <a:r>
              <a:rPr lang="en-US" sz="2400" dirty="0">
                <a:latin typeface="Cambria" panose="02040503050406030204" pitchFamily="18" charset="0"/>
              </a:rPr>
              <a:t> object and sets its receiver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Invoker (</a:t>
            </a:r>
            <a:r>
              <a:rPr lang="en-US" sz="2400" b="1" dirty="0" err="1">
                <a:latin typeface="Cambria" panose="02040503050406030204" pitchFamily="18" charset="0"/>
              </a:rPr>
              <a:t>RemoteControl</a:t>
            </a:r>
            <a:r>
              <a:rPr lang="en-US" sz="2400" b="1" dirty="0">
                <a:latin typeface="Cambria" panose="020405030504060302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Calls command to execute a request</a:t>
            </a:r>
          </a:p>
          <a:p>
            <a:endParaRPr lang="en-US" sz="2400" b="1" dirty="0">
              <a:latin typeface="Cambria" panose="02040503050406030204" pitchFamily="18" charset="0"/>
            </a:endParaRPr>
          </a:p>
        </p:txBody>
      </p:sp>
      <p:pic>
        <p:nvPicPr>
          <p:cNvPr id="6" name="Picture 5" descr="A picture containing text, tableware&#10;&#10;Description automatically generated">
            <a:extLst>
              <a:ext uri="{FF2B5EF4-FFF2-40B4-BE49-F238E27FC236}">
                <a16:creationId xmlns:a16="http://schemas.microsoft.com/office/drawing/2014/main" id="{A50C3879-DDAF-7B6C-A048-5537C35F6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420411" y="3035262"/>
            <a:ext cx="2743200" cy="20750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2F7028-BBE1-E6A9-8083-F61C2416643B}"/>
              </a:ext>
            </a:extLst>
          </p:cNvPr>
          <p:cNvSpPr txBox="1"/>
          <p:nvPr/>
        </p:nvSpPr>
        <p:spPr>
          <a:xfrm>
            <a:off x="-13319" y="6655773"/>
            <a:ext cx="6413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5" tooltip="http://wagingnonviolence.org/feature/activists-need-realize-americans-actually-agree/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6" tooltip="https://creativecommons.org/licenses/by/3.0/"/>
              </a:rPr>
              <a:t>CC BY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5500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446" y="289920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Command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11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24790" y="928763"/>
            <a:ext cx="109012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Consequences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Decoupling client and receiver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Decouples invoke operation from the one that knows how to perform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Commands as first-class objects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Command can be manipulated and extended like any other object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Composite commands can be formed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Commands can be composed to form a larger command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Code complexity may increase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Not every time this is needed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Introduction of new layer between senders and receivers </a:t>
            </a:r>
          </a:p>
        </p:txBody>
      </p:sp>
    </p:spTree>
    <p:extLst>
      <p:ext uri="{BB962C8B-B14F-4D97-AF65-F5344CB8AC3E}">
        <p14:creationId xmlns:p14="http://schemas.microsoft.com/office/powerpoint/2010/main" val="2727241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90" y="279116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Command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12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07030" y="1122295"/>
            <a:ext cx="10901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Implementation</a:t>
            </a: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</a:rPr>
              <a:t>Check the source code given along: </a:t>
            </a:r>
            <a:r>
              <a:rPr lang="en-US" sz="2400" dirty="0" err="1">
                <a:latin typeface="Cambria" panose="02040503050406030204" pitchFamily="18" charset="0"/>
              </a:rPr>
              <a:t>RemoteControlCommand</a:t>
            </a:r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	</a:t>
            </a:r>
          </a:p>
          <a:p>
            <a:r>
              <a:rPr lang="en-US" sz="2400" b="1" dirty="0">
                <a:latin typeface="Cambria" panose="020405030504060302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04096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15926-F9AE-3C3F-35E2-3A4A07C1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33" y="2268773"/>
            <a:ext cx="5782716" cy="215071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rgbClr val="080808"/>
                </a:solidFill>
                <a:latin typeface="Cambria" panose="02040503050406030204" pitchFamily="18" charset="0"/>
              </a:rPr>
              <a:t>We can pass on responsibilities: Chain of Responsibilities!</a:t>
            </a:r>
            <a:br>
              <a:rPr lang="en-US" sz="3600" dirty="0">
                <a:solidFill>
                  <a:srgbClr val="080808"/>
                </a:solidFill>
                <a:latin typeface="Cambria" panose="02040503050406030204" pitchFamily="18" charset="0"/>
              </a:rPr>
            </a:br>
            <a:r>
              <a:rPr lang="en-US" sz="3600" dirty="0">
                <a:solidFill>
                  <a:srgbClr val="080808"/>
                </a:solidFill>
                <a:latin typeface="Cambria" panose="02040503050406030204" pitchFamily="18" charset="0"/>
              </a:rPr>
              <a:t>[Behavioral]</a:t>
            </a:r>
            <a:endParaRPr lang="en-US" sz="3600" kern="1200" dirty="0">
              <a:solidFill>
                <a:srgbClr val="080808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ED79F-805E-82A9-FD19-B8AB3D5C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11091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278651"/>
            <a:ext cx="8702977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Meet the Chain of Responsibility Pattern!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14</a:t>
            </a:fld>
            <a:endParaRPr lang="en-IT"/>
          </a:p>
        </p:txBody>
      </p:sp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8280BB1A-304E-65A7-2C99-13C0C6BA1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564231"/>
            <a:ext cx="12191999" cy="395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3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38" y="330063"/>
            <a:ext cx="995370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Meet the Chain of Responsibility Pattern - Motivation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15</a:t>
            </a:fld>
            <a:endParaRPr lang="en-IT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5251F8D-1460-A26C-AE75-405D44A2A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4170"/>
            <a:ext cx="12178951" cy="31936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682951-7B14-82A5-ECC5-780D343259F8}"/>
              </a:ext>
            </a:extLst>
          </p:cNvPr>
          <p:cNvSpPr txBox="1"/>
          <p:nvPr/>
        </p:nvSpPr>
        <p:spPr>
          <a:xfrm>
            <a:off x="4072128" y="1349387"/>
            <a:ext cx="33214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</a:rPr>
              <a:t>TA Application Scenario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896983-1817-A531-32F2-4E88A1894198}"/>
              </a:ext>
            </a:extLst>
          </p:cNvPr>
          <p:cNvSpPr txBox="1"/>
          <p:nvPr/>
        </p:nvSpPr>
        <p:spPr>
          <a:xfrm>
            <a:off x="4284378" y="6115290"/>
            <a:ext cx="4635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" panose="02040503050406030204" pitchFamily="18" charset="0"/>
              </a:rPr>
              <a:t>How do you implement this ?</a:t>
            </a:r>
          </a:p>
        </p:txBody>
      </p:sp>
    </p:spTree>
    <p:extLst>
      <p:ext uri="{BB962C8B-B14F-4D97-AF65-F5344CB8AC3E}">
        <p14:creationId xmlns:p14="http://schemas.microsoft.com/office/powerpoint/2010/main" val="3031398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77" y="482105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Meet the Chain of Responsibility Pattern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16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670705" y="1954811"/>
            <a:ext cx="109012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What if one single request requires processing by multiple objects?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What if the sender needs to be decoupled from receiver in the form of set of </a:t>
            </a:r>
          </a:p>
          <a:p>
            <a:r>
              <a:rPr lang="en-US" sz="2400" dirty="0">
                <a:latin typeface="Cambria" panose="02040503050406030204" pitchFamily="18" charset="0"/>
              </a:rPr>
              <a:t>     intermediatory objects?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Sometimes single task may require multiple steps to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Each step in the process may decide if it needs to be further processed or not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557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500043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Chain of Responsibility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17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24789" y="1139294"/>
            <a:ext cx="116672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Intent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</a:rPr>
              <a:t>Avoid coupling the sender of a request  to its receiver by giving more than one object a chance top handle the request. Chain the receiving objects and pass the request along the chain until one handles it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Also Known As: </a:t>
            </a:r>
            <a:r>
              <a:rPr lang="en-US" sz="2400" dirty="0" err="1">
                <a:latin typeface="Cambria" panose="02040503050406030204" pitchFamily="18" charset="0"/>
              </a:rPr>
              <a:t>CoR</a:t>
            </a:r>
            <a:r>
              <a:rPr lang="en-US" sz="2400" dirty="0">
                <a:latin typeface="Cambria" panose="02040503050406030204" pitchFamily="18" charset="0"/>
              </a:rPr>
              <a:t>, Chain of Command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Motivation</a:t>
            </a: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Request may have to be passed along a 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Senders and receivers need decoupling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Key objects: </a:t>
            </a:r>
            <a:r>
              <a:rPr lang="en-US" sz="2400" i="1" dirty="0">
                <a:latin typeface="Cambria" panose="02040503050406030204" pitchFamily="18" charset="0"/>
              </a:rPr>
              <a:t>Handler, </a:t>
            </a:r>
            <a:r>
              <a:rPr lang="en-US" sz="2400" i="1" dirty="0" err="1">
                <a:latin typeface="Cambria" panose="02040503050406030204" pitchFamily="18" charset="0"/>
              </a:rPr>
              <a:t>ConcereteHandler</a:t>
            </a:r>
            <a:r>
              <a:rPr lang="en-US" sz="2400" i="1" dirty="0">
                <a:latin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</a:rPr>
              <a:t>and</a:t>
            </a:r>
            <a:r>
              <a:rPr lang="en-US" sz="2400" i="1" dirty="0">
                <a:latin typeface="Cambria" panose="02040503050406030204" pitchFamily="18" charset="0"/>
              </a:rPr>
              <a:t> Client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</a:rPr>
              <a:t>Example: Payment process in an e-commerce system</a:t>
            </a: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9FB755E0-0696-7CCF-C17E-E97F2F893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165629" y="3458534"/>
            <a:ext cx="2017581" cy="20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29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500043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 err="1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CoR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18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50377" y="1796049"/>
            <a:ext cx="112812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Applicability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More than one object may handle a request and handler isn’t known </a:t>
            </a:r>
            <a:r>
              <a:rPr lang="en-US" sz="2400" dirty="0" err="1">
                <a:latin typeface="Cambria" panose="02040503050406030204" pitchFamily="18" charset="0"/>
              </a:rPr>
              <a:t>apriori</a:t>
            </a: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Issue request to one object without specifying the receiver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The set of objects that can handle a request should be specified dynamically</a:t>
            </a:r>
          </a:p>
        </p:txBody>
      </p:sp>
    </p:spTree>
    <p:extLst>
      <p:ext uri="{BB962C8B-B14F-4D97-AF65-F5344CB8AC3E}">
        <p14:creationId xmlns:p14="http://schemas.microsoft.com/office/powerpoint/2010/main" val="2643831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500043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 err="1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CoR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19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90798" y="1165230"/>
            <a:ext cx="10901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95986-1573-E1CC-BBCB-8F032CD055C8}"/>
              </a:ext>
            </a:extLst>
          </p:cNvPr>
          <p:cNvSpPr txBox="1"/>
          <p:nvPr/>
        </p:nvSpPr>
        <p:spPr>
          <a:xfrm>
            <a:off x="-9508" y="6553873"/>
            <a:ext cx="2298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</a:rPr>
              <a:t>Image source: Gang of four book</a:t>
            </a:r>
          </a:p>
        </p:txBody>
      </p:sp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915930E2-1079-ECB5-DD1A-F71D69A23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064" y="1626895"/>
            <a:ext cx="8475910" cy="498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09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308346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 err="1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CoR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20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24790" y="1122295"/>
            <a:ext cx="1090120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</a:rPr>
              <a:t>Participants</a:t>
            </a:r>
          </a:p>
          <a:p>
            <a:endParaRPr lang="en-US" sz="2800" b="1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Handler (</a:t>
            </a:r>
            <a:r>
              <a:rPr lang="en-US" sz="2400" b="1" dirty="0" err="1">
                <a:latin typeface="Cambria" panose="02040503050406030204" pitchFamily="18" charset="0"/>
              </a:rPr>
              <a:t>ApplicationHandler</a:t>
            </a:r>
            <a:r>
              <a:rPr lang="en-US" sz="2400" b="1" dirty="0">
                <a:latin typeface="Cambria" panose="020405030504060302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Defines an interface for handling requests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Cambria" panose="02040503050406030204" pitchFamily="18" charset="0"/>
            </a:endParaRPr>
          </a:p>
          <a:p>
            <a:r>
              <a:rPr lang="en-US" sz="2400" b="1" dirty="0" err="1">
                <a:latin typeface="Cambria" panose="02040503050406030204" pitchFamily="18" charset="0"/>
              </a:rPr>
              <a:t>ConcreteHandler</a:t>
            </a:r>
            <a:r>
              <a:rPr lang="en-US" sz="2400" b="1" dirty="0">
                <a:latin typeface="Cambria" panose="02040503050406030204" pitchFamily="18" charset="0"/>
              </a:rPr>
              <a:t> (</a:t>
            </a:r>
            <a:r>
              <a:rPr lang="en-US" sz="2400" b="1" dirty="0" err="1">
                <a:latin typeface="Cambria" panose="02040503050406030204" pitchFamily="18" charset="0"/>
              </a:rPr>
              <a:t>InstructorHandler</a:t>
            </a:r>
            <a:r>
              <a:rPr lang="en-US" sz="2400" b="1" dirty="0">
                <a:latin typeface="Cambria" panose="020405030504060302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Handles requests its responsible for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Can access its successor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Client (</a:t>
            </a:r>
            <a:r>
              <a:rPr lang="en-US" sz="2400" b="1" dirty="0" err="1">
                <a:latin typeface="Cambria" panose="02040503050406030204" pitchFamily="18" charset="0"/>
              </a:rPr>
              <a:t>StudentDemo</a:t>
            </a:r>
            <a:r>
              <a:rPr lang="en-US" sz="2400" b="1" dirty="0">
                <a:latin typeface="Cambria" panose="020405030504060302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Initiates the request to a </a:t>
            </a:r>
            <a:r>
              <a:rPr lang="en-US" sz="2400" dirty="0" err="1">
                <a:latin typeface="Cambria" panose="02040503050406030204" pitchFamily="18" charset="0"/>
              </a:rPr>
              <a:t>ConcreteHandler</a:t>
            </a:r>
            <a:r>
              <a:rPr lang="en-US" sz="2400" dirty="0">
                <a:latin typeface="Cambria" panose="02040503050406030204" pitchFamily="18" charset="0"/>
              </a:rPr>
              <a:t> object on the chain</a:t>
            </a:r>
          </a:p>
        </p:txBody>
      </p:sp>
      <p:pic>
        <p:nvPicPr>
          <p:cNvPr id="6" name="Picture 5" descr="A picture containing text, tableware&#10;&#10;Description automatically generated">
            <a:extLst>
              <a:ext uri="{FF2B5EF4-FFF2-40B4-BE49-F238E27FC236}">
                <a16:creationId xmlns:a16="http://schemas.microsoft.com/office/drawing/2014/main" id="{A50C3879-DDAF-7B6C-A048-5537C35F6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420411" y="3035262"/>
            <a:ext cx="2743200" cy="20750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2F7028-BBE1-E6A9-8083-F61C2416643B}"/>
              </a:ext>
            </a:extLst>
          </p:cNvPr>
          <p:cNvSpPr txBox="1"/>
          <p:nvPr/>
        </p:nvSpPr>
        <p:spPr>
          <a:xfrm>
            <a:off x="-13319" y="6655773"/>
            <a:ext cx="6413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5" tooltip="http://wagingnonviolence.org/feature/activists-need-realize-americans-actually-agree/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6" tooltip="https://creativecommons.org/licenses/by/3.0/"/>
              </a:rPr>
              <a:t>CC BY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63616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" y="286960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 err="1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CoR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21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231648" y="938729"/>
            <a:ext cx="120944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Consequences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Reduced Coupling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Object does not need to worry about which other object handles request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Simplifies object interactions </a:t>
            </a:r>
          </a:p>
          <a:p>
            <a:pPr lvl="1"/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Flexible assignment of responsibilities 	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Flexible distribution of responsibilities among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Responsibilities of each handler can be changed at run time (chain can be increased)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Receipt isn’t guaranteed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Request has no explicit receiver – No guarantee of handling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Request can go unhandled when chain is not configured properly</a:t>
            </a:r>
          </a:p>
        </p:txBody>
      </p:sp>
    </p:spTree>
    <p:extLst>
      <p:ext uri="{BB962C8B-B14F-4D97-AF65-F5344CB8AC3E}">
        <p14:creationId xmlns:p14="http://schemas.microsoft.com/office/powerpoint/2010/main" val="4277506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90" y="279116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 err="1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CoR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22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07030" y="1122295"/>
            <a:ext cx="10901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Implementation</a:t>
            </a: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</a:rPr>
              <a:t>Check the source code given along: TA-</a:t>
            </a:r>
            <a:r>
              <a:rPr lang="en-US" sz="2400" dirty="0" err="1">
                <a:latin typeface="Cambria" panose="02040503050406030204" pitchFamily="18" charset="0"/>
              </a:rPr>
              <a:t>ApprovalChainOfResponsibility</a:t>
            </a:r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	</a:t>
            </a:r>
          </a:p>
          <a:p>
            <a:r>
              <a:rPr lang="en-US" sz="2400" b="1" dirty="0">
                <a:latin typeface="Cambria" panose="020405030504060302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53425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15926-F9AE-3C3F-35E2-3A4A07C1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33" y="2268773"/>
            <a:ext cx="5782716" cy="215071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rgbClr val="080808"/>
                </a:solidFill>
                <a:latin typeface="Cambria" panose="02040503050406030204" pitchFamily="18" charset="0"/>
              </a:rPr>
              <a:t>How about Composing!: Meet the Composite Pattern</a:t>
            </a:r>
            <a:br>
              <a:rPr lang="en-US" sz="3600" dirty="0">
                <a:solidFill>
                  <a:srgbClr val="080808"/>
                </a:solidFill>
                <a:latin typeface="Cambria" panose="02040503050406030204" pitchFamily="18" charset="0"/>
              </a:rPr>
            </a:br>
            <a:r>
              <a:rPr lang="en-US" sz="3600" dirty="0">
                <a:solidFill>
                  <a:srgbClr val="080808"/>
                </a:solidFill>
                <a:latin typeface="Cambria" panose="02040503050406030204" pitchFamily="18" charset="0"/>
              </a:rPr>
              <a:t>[Structural]</a:t>
            </a:r>
            <a:endParaRPr lang="en-US" sz="3600" kern="1200" dirty="0">
              <a:solidFill>
                <a:srgbClr val="080808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ED79F-805E-82A9-FD19-B8AB3D5C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23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32434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349" y="286960"/>
            <a:ext cx="8702977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Meet the Composite Pattern!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24</a:t>
            </a:fld>
            <a:endParaRPr lang="en-IT"/>
          </a:p>
        </p:txBody>
      </p:sp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CAA60396-77C4-18B5-B2C7-7231B978E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551" y="852309"/>
            <a:ext cx="7420474" cy="52738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E1758B-7D77-767D-D4C8-BE91C896825A}"/>
              </a:ext>
            </a:extLst>
          </p:cNvPr>
          <p:cNvSpPr txBox="1"/>
          <p:nvPr/>
        </p:nvSpPr>
        <p:spPr>
          <a:xfrm>
            <a:off x="3975671" y="6302058"/>
            <a:ext cx="3471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</a:rPr>
              <a:t>How to get the total size?</a:t>
            </a:r>
          </a:p>
        </p:txBody>
      </p:sp>
    </p:spTree>
    <p:extLst>
      <p:ext uri="{BB962C8B-B14F-4D97-AF65-F5344CB8AC3E}">
        <p14:creationId xmlns:p14="http://schemas.microsoft.com/office/powerpoint/2010/main" val="3405749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77" y="482105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Meet the Composite Pattern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25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654276" y="1419500"/>
            <a:ext cx="1090120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What if a large component is composed of smaller components?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What if the client need not worry about the complex hierarchy?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What if the composition tree needs to be parsed recursively?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Composition may contain primitives and larger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Have everyone in the tree share some common method 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C67127BC-0BDC-1E89-57F1-7F25EB69C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724898" y="4152096"/>
            <a:ext cx="1856907" cy="152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90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500043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Composite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26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24789" y="1260615"/>
            <a:ext cx="113398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Intent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</a:rPr>
              <a:t>Compose objects into tree structures to represent part-whole hierarchies. Composite lets client treat objects and compositions uniformly 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Also Known As: </a:t>
            </a:r>
            <a:r>
              <a:rPr lang="en-US" sz="2400" dirty="0">
                <a:latin typeface="Cambria" panose="02040503050406030204" pitchFamily="18" charset="0"/>
              </a:rPr>
              <a:t>Object Tree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Motivation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Enable client to treat primitives and containers identically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Promotes extensibility – Introduce new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Four key objects: </a:t>
            </a:r>
            <a:r>
              <a:rPr lang="en-US" sz="2400" i="1" dirty="0">
                <a:latin typeface="Cambria" panose="02040503050406030204" pitchFamily="18" charset="0"/>
              </a:rPr>
              <a:t>Component, leaf, composite and client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</a:rPr>
              <a:t>Example: Disk system has folders and files. Each folder has files</a:t>
            </a: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9FB755E0-0696-7CCF-C17E-E97F2F893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165629" y="3458534"/>
            <a:ext cx="2017581" cy="20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70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500043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Composite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27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07030" y="1646771"/>
            <a:ext cx="10901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Applicability</a:t>
            </a: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Represent part-whole hierarchies of objects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Recurse through the tree in a </a:t>
            </a:r>
            <a:r>
              <a:rPr lang="en-US" sz="2400">
                <a:latin typeface="Cambria" panose="02040503050406030204" pitchFamily="18" charset="0"/>
              </a:rPr>
              <a:t>more controlled </a:t>
            </a:r>
            <a:r>
              <a:rPr lang="en-US" sz="2400" dirty="0">
                <a:latin typeface="Cambria" panose="02040503050406030204" pitchFamily="18" charset="0"/>
              </a:rPr>
              <a:t>manner</a:t>
            </a:r>
          </a:p>
          <a:p>
            <a:pPr lvl="1"/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Clients should be unaware of the differences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Ignore difference between composition of objects and individual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All objects in the composite structure are treated uniformly </a:t>
            </a:r>
          </a:p>
          <a:p>
            <a:pPr lvl="1"/>
            <a:endParaRPr lang="en-US" sz="2400" dirty="0">
              <a:latin typeface="Cambria" panose="02040503050406030204" pitchFamily="18" charset="0"/>
            </a:endParaRP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672EA712-8DAC-45CB-234A-98D32F5E3D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463162" y="4891367"/>
            <a:ext cx="1328848" cy="132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37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30" y="500043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Composite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28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90798" y="1118913"/>
            <a:ext cx="10901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95986-1573-E1CC-BBCB-8F032CD055C8}"/>
              </a:ext>
            </a:extLst>
          </p:cNvPr>
          <p:cNvSpPr txBox="1"/>
          <p:nvPr/>
        </p:nvSpPr>
        <p:spPr>
          <a:xfrm>
            <a:off x="-9508" y="6553873"/>
            <a:ext cx="2298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</a:rPr>
              <a:t>Image source: Gang of four book</a:t>
            </a:r>
          </a:p>
        </p:txBody>
      </p:sp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50688BA7-D360-BFE0-1111-71757801D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826733"/>
            <a:ext cx="9517269" cy="428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51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90" y="279116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Composite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29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24790" y="839561"/>
            <a:ext cx="1140823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</a:rPr>
              <a:t>Participants</a:t>
            </a:r>
          </a:p>
          <a:p>
            <a:r>
              <a:rPr lang="en-US" sz="2400" b="1" dirty="0">
                <a:latin typeface="Cambria" panose="02040503050406030204" pitchFamily="18" charset="0"/>
              </a:rPr>
              <a:t>Component (</a:t>
            </a:r>
            <a:r>
              <a:rPr lang="en-US" sz="2400" b="1" dirty="0" err="1">
                <a:latin typeface="Cambria" panose="02040503050406030204" pitchFamily="18" charset="0"/>
              </a:rPr>
              <a:t>FileSystem</a:t>
            </a:r>
            <a:r>
              <a:rPr lang="en-US" sz="2400" b="1" dirty="0">
                <a:latin typeface="Cambria" panose="020405030504060302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Declares the interface for objects in the composition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Implements default behavior – also declares interface to access child components</a:t>
            </a: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Leaf (File)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Leaf objects in the composition – No children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mbria" panose="02040503050406030204" pitchFamily="18" charset="0"/>
              </a:rPr>
              <a:t>Behaviour</a:t>
            </a:r>
            <a:r>
              <a:rPr lang="en-US" sz="2400" dirty="0">
                <a:latin typeface="Cambria" panose="02040503050406030204" pitchFamily="18" charset="0"/>
              </a:rPr>
              <a:t> of primitive objects is defined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Composite (Folder)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Defines behavior for components with children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Stores child components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Client (</a:t>
            </a:r>
            <a:r>
              <a:rPr lang="en-US" sz="2400" b="1" dirty="0" err="1">
                <a:latin typeface="Cambria" panose="02040503050406030204" pitchFamily="18" charset="0"/>
              </a:rPr>
              <a:t>FileSystemDemo</a:t>
            </a:r>
            <a:r>
              <a:rPr lang="en-US" sz="2400" b="1" dirty="0">
                <a:latin typeface="Cambria" panose="020405030504060302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Manipulates objects in the composition through component interface</a:t>
            </a:r>
          </a:p>
        </p:txBody>
      </p:sp>
      <p:pic>
        <p:nvPicPr>
          <p:cNvPr id="6" name="Picture 5" descr="A picture containing text, tableware&#10;&#10;Description automatically generated">
            <a:extLst>
              <a:ext uri="{FF2B5EF4-FFF2-40B4-BE49-F238E27FC236}">
                <a16:creationId xmlns:a16="http://schemas.microsoft.com/office/drawing/2014/main" id="{A50C3879-DDAF-7B6C-A048-5537C35F6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420411" y="3612042"/>
            <a:ext cx="2743200" cy="20750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2F7028-BBE1-E6A9-8083-F61C2416643B}"/>
              </a:ext>
            </a:extLst>
          </p:cNvPr>
          <p:cNvSpPr txBox="1"/>
          <p:nvPr/>
        </p:nvSpPr>
        <p:spPr>
          <a:xfrm>
            <a:off x="-13319" y="6655773"/>
            <a:ext cx="6413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5" tooltip="http://wagingnonviolence.org/feature/activists-need-realize-americans-actually-agree/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6" tooltip="https://creativecommons.org/licenses/by/3.0/"/>
              </a:rPr>
              <a:t>CC BY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11539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42" y="238923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Composite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30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360342" y="856357"/>
            <a:ext cx="1147131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Consequences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Class hierarchies with primitive and composite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Primitive objects can be further composed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Client can work with both primitive and composite in same way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Enhance client-side simplicity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Clients are not aware if an object is primitive or composite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No case statement or if conditions needed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Add new components easily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New composite or sub-classes can be added to tree without affecting client</a:t>
            </a:r>
          </a:p>
          <a:p>
            <a:pPr lvl="1"/>
            <a:endParaRPr lang="en-US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Design can be too general – Also it sometimes can be </a:t>
            </a:r>
            <a:r>
              <a:rPr lang="en-US" sz="2400" dirty="0" err="1">
                <a:latin typeface="Cambria" panose="02040503050406030204" pitchFamily="18" charset="0"/>
              </a:rPr>
              <a:t>forcefit</a:t>
            </a:r>
            <a:endParaRPr lang="en-US" sz="2400" dirty="0">
              <a:latin typeface="Cambria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Restricting components of a composite is hard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111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90" y="279116"/>
            <a:ext cx="10470866" cy="4261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</a:rPr>
              <a:t>Composite Pattern: Documentation </a:t>
            </a:r>
            <a:endParaRPr lang="en-IT" sz="3200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668FA1E-35C4-41F3-0DE2-10237294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C2513-8BC3-02EB-F29C-52D67EC49490}"/>
              </a:ext>
            </a:extLst>
          </p:cNvPr>
          <p:cNvSpPr txBox="1"/>
          <p:nvPr/>
        </p:nvSpPr>
        <p:spPr>
          <a:xfrm>
            <a:off x="2517200" y="6382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A18B-5DBA-9A69-A985-4C0D71D7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E8288-AF62-1F4A-81E8-5FDB4B6764BA}" type="slidenum">
              <a:rPr lang="en-IT" smtClean="0"/>
              <a:t>31</a:t>
            </a:fld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78EE5-4CDD-FE33-A6F5-12AA9AB7A2A0}"/>
              </a:ext>
            </a:extLst>
          </p:cNvPr>
          <p:cNvSpPr txBox="1"/>
          <p:nvPr/>
        </p:nvSpPr>
        <p:spPr>
          <a:xfrm>
            <a:off x="507030" y="1122295"/>
            <a:ext cx="10901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Implementation</a:t>
            </a: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</a:rPr>
              <a:t>Check the source code given along: </a:t>
            </a:r>
            <a:r>
              <a:rPr lang="en-US" sz="2400" dirty="0" err="1">
                <a:latin typeface="Cambria" panose="02040503050406030204" pitchFamily="18" charset="0"/>
              </a:rPr>
              <a:t>FileSystemComposite</a:t>
            </a:r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</a:rPr>
              <a:t>	</a:t>
            </a:r>
          </a:p>
          <a:p>
            <a:r>
              <a:rPr lang="en-US" sz="2400" b="1" dirty="0">
                <a:latin typeface="Cambria" panose="020405030504060302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90460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4B014-43EF-41B5-9194-49485C1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647" y="1929254"/>
            <a:ext cx="10146469" cy="426167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</a:rPr>
              <a:t>Thank You</a:t>
            </a:r>
            <a:b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</a:rPr>
            </a:br>
            <a:endParaRPr lang="en-IT" sz="32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EDFD54EC-3546-3DD0-7B3D-72F397CD04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10792011" y="5939338"/>
            <a:ext cx="1399990" cy="885493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344826-6691-B8D2-F091-4BB9735507F5}"/>
              </a:ext>
            </a:extLst>
          </p:cNvPr>
          <p:cNvSpPr txBox="1"/>
          <p:nvPr/>
        </p:nvSpPr>
        <p:spPr>
          <a:xfrm>
            <a:off x="4115093" y="5232833"/>
            <a:ext cx="41674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800" b="0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</a:rPr>
              <a:t>Email: </a:t>
            </a:r>
            <a:r>
              <a:rPr lang="en-IN" sz="1800" b="0" i="0" u="sng" strike="noStrike" dirty="0" err="1">
                <a:solidFill>
                  <a:srgbClr val="942408"/>
                </a:solidFill>
                <a:effectLst/>
                <a:latin typeface="Cambria" panose="02040503050406030204" pitchFamily="18" charset="0"/>
                <a:hlinkClick r:id="rId4"/>
              </a:rPr>
              <a:t>karthik.vaidhyanathan@iiit.ac.in</a:t>
            </a:r>
            <a:endParaRPr lang="en-IN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800" b="0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</a:rPr>
              <a:t>Web: </a:t>
            </a:r>
            <a:r>
              <a:rPr lang="en-IN" sz="1800" b="0" i="0" u="sng" strike="noStrike" dirty="0">
                <a:solidFill>
                  <a:srgbClr val="942408"/>
                </a:solidFill>
                <a:effectLst/>
                <a:latin typeface="Cambria" panose="02040503050406030204" pitchFamily="18" charset="0"/>
                <a:hlinkClick r:id="rId5"/>
              </a:rPr>
              <a:t>https://karthikvaidhyanathan.com</a:t>
            </a:r>
            <a:endParaRPr lang="en-IN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800" b="0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</a:rPr>
              <a:t>Twitter: </a:t>
            </a:r>
            <a:r>
              <a:rPr lang="en-IN" sz="1800" b="0" i="0" u="none" strike="noStrike" dirty="0">
                <a:solidFill>
                  <a:srgbClr val="0F506C"/>
                </a:solidFill>
                <a:effectLst/>
                <a:latin typeface="Cambria" panose="02040503050406030204" pitchFamily="18" charset="0"/>
              </a:rPr>
              <a:t>@</a:t>
            </a:r>
            <a:r>
              <a:rPr lang="en-IN" sz="1800" b="0" i="0" u="none" strike="noStrike" dirty="0" err="1">
                <a:solidFill>
                  <a:srgbClr val="0F506C"/>
                </a:solidFill>
                <a:effectLst/>
                <a:latin typeface="Cambria" panose="02040503050406030204" pitchFamily="18" charset="0"/>
              </a:rPr>
              <a:t>karthi_ishere</a:t>
            </a:r>
            <a:endParaRPr lang="en-IN" b="0" dirty="0">
              <a:effectLst/>
            </a:endParaRPr>
          </a:p>
          <a:p>
            <a:br>
              <a:rPr lang="en-IN" dirty="0"/>
            </a:br>
            <a:endParaRPr lang="en-US" dirty="0"/>
          </a:p>
        </p:txBody>
      </p:sp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0E29E393-22E7-D0CD-C948-9ADE1D898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623" y="2524653"/>
            <a:ext cx="2076844" cy="2076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9DEA4E-F590-D98D-94D3-5D9C88C3C602}"/>
              </a:ext>
            </a:extLst>
          </p:cNvPr>
          <p:cNvSpPr txBox="1"/>
          <p:nvPr/>
        </p:nvSpPr>
        <p:spPr>
          <a:xfrm>
            <a:off x="3600305" y="4715662"/>
            <a:ext cx="519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Course website: </a:t>
            </a:r>
            <a:r>
              <a:rPr lang="en-US" dirty="0">
                <a:latin typeface="Cambria" panose="02040503050406030204" pitchFamily="18" charset="0"/>
                <a:hlinkClick r:id="rId7"/>
              </a:rPr>
              <a:t>karthikv1392.github.io/cs6401_se</a:t>
            </a:r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070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03_Intro_Software_Architecture" id="{A1CD3E3C-761F-9446-BD93-221AED1E7EF1}" vid="{261E1446-6DB6-E440-8584-4FC1526EFE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97707</TotalTime>
  <Words>1355</Words>
  <Application>Microsoft Macintosh PowerPoint</Application>
  <PresentationFormat>Widescreen</PresentationFormat>
  <Paragraphs>313</Paragraphs>
  <Slides>32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Office Theme</vt:lpstr>
      <vt:lpstr>Design Patterns</vt:lpstr>
      <vt:lpstr>Acknowledgements</vt:lpstr>
      <vt:lpstr>You can give a command: Command Pattern [Behavioral]</vt:lpstr>
      <vt:lpstr>Meet the Command Pattern!</vt:lpstr>
      <vt:lpstr>Meet the Command Pattern – A Scenario</vt:lpstr>
      <vt:lpstr>Meet the Command Pattern</vt:lpstr>
      <vt:lpstr>Command Pattern: Documentation </vt:lpstr>
      <vt:lpstr>Command Pattern: Documentation </vt:lpstr>
      <vt:lpstr>Command Pattern: Documentation </vt:lpstr>
      <vt:lpstr>Command Pattern: Documentation </vt:lpstr>
      <vt:lpstr>Command Pattern: Documentation </vt:lpstr>
      <vt:lpstr>Command Pattern: Documentation </vt:lpstr>
      <vt:lpstr>We can pass on responsibilities: Chain of Responsibilities! [Behavioral]</vt:lpstr>
      <vt:lpstr>Meet the Chain of Responsibility Pattern!</vt:lpstr>
      <vt:lpstr>Meet the Chain of Responsibility Pattern - Motivation</vt:lpstr>
      <vt:lpstr>Meet the Chain of Responsibility Pattern</vt:lpstr>
      <vt:lpstr>Chain of Responsibility Pattern: Documentation </vt:lpstr>
      <vt:lpstr>CoR Pattern: Documentation </vt:lpstr>
      <vt:lpstr>CoR Pattern: Documentation </vt:lpstr>
      <vt:lpstr>CoR Pattern: Documentation </vt:lpstr>
      <vt:lpstr>CoR Pattern: Documentation </vt:lpstr>
      <vt:lpstr>CoR Pattern: Documentation </vt:lpstr>
      <vt:lpstr>How about Composing!: Meet the Composite Pattern [Structural]</vt:lpstr>
      <vt:lpstr>Meet the Composite Pattern!</vt:lpstr>
      <vt:lpstr>Meet the Composite Pattern</vt:lpstr>
      <vt:lpstr>Composite Pattern: Documentation </vt:lpstr>
      <vt:lpstr>Composite Pattern: Documentation </vt:lpstr>
      <vt:lpstr>Composite Pattern: Documentation </vt:lpstr>
      <vt:lpstr>Composite Pattern: Documentation </vt:lpstr>
      <vt:lpstr>Composite Pattern: Documentation </vt:lpstr>
      <vt:lpstr>Composite Pattern: Documentation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Architecture</dc:title>
  <dc:creator>Karthik Vaidhyanathan</dc:creator>
  <cp:lastModifiedBy>Karthik Vaidhyanathan</cp:lastModifiedBy>
  <cp:revision>28</cp:revision>
  <dcterms:created xsi:type="dcterms:W3CDTF">2022-08-01T11:07:18Z</dcterms:created>
  <dcterms:modified xsi:type="dcterms:W3CDTF">2024-03-07T06:07:29Z</dcterms:modified>
</cp:coreProperties>
</file>